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99d58cd-6192-dad5-9432-dd7acb344b29}">
          <p14:sldIdLst>
            <p14:sldId id="256"/>
            <p14:sldId id="257"/>
            <p14:sldId id="258"/>
          </p14:sldIdLst>
        </p14:section>
        <p14:section name="Solución técnica" id="{b53354a0-7f63-7108-7820-29ac196966f7}">
          <p14:sldIdLst>
            <p14:sldId id="259"/>
            <p14:sldId id="260"/>
            <p14:sldId id="261"/>
            <p14:sldId id="262"/>
          </p14:sldIdLst>
        </p14:section>
        <p14:section name="La aplicación" id="{c61befbe-3c7b-d639-29e0-e88cc862e04d}">
          <p14:sldIdLst>
            <p14:sldId id="263"/>
            <p14:sldId id="264"/>
            <p14:sldId id="265"/>
          </p14:sldIdLst>
        </p14:section>
        <p14:section name="Resultados" id="{0581381b-2f1f-8fbf-ea83-c623844c404a}">
          <p14:sldIdLst>
            <p14:sldId id="266"/>
            <p14:sldId id="267"/>
            <p14:sldId id="268"/>
            <p14:sldId id="269"/>
          </p14:sldIdLst>
        </p14:section>
        <p14:section name="Cierre" id="{53fe8978-f433-1de8-dab1-0e6cb717102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primer avance del Asistente Monitor-IoT: una aplicación web con un agente que genera modelos de arquitecturas de monitoreo IoT en XMI, conformes al metamodelo Monitor-IoT. En este avance construimos la base técnica: todo lo que necesita el agente para entregar un modelo válido, y la interfaz donde el usuario lo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metamodelo y el editor gráfico de Monitor-IoT ya existen, pero para usarlos hay que dominar Eclipse y construir el modelo pieza por pieza. Nuestro sistema automatiza ese trabajo: el usuario describe el caso y recibe un XMI válido que puede seguir editando en Obeo Designer.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Acordamos tres entregas. Hoy mostramos la base técnica completa. En el avance 2 conectamos GLM 4.6 para que el agente produzca el modelo a partir del caso del usuario. En el avance 3 completamos vistas, pruebas, evaluación con usuarios y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interfaz web habla con una API en Python. La API coordina cuatro piezas: el agente, el generador XMI, el validador y la base de conocimiento con el metamodelo. Cada pieza se puede cambiar sin tocar las demás. La conexión con GLM 4.6 pasa por una capa intermedia: cambiar de proveedor o de versión es solo configuración.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decisión técnica más importante. El agente describe el modelo como un árbol JSON y referencia elementos por nombre clave. El programa calcula las referencias por posición, completa las relaciones de doble sentido y asigna ids. Así el riesgo más alto del proyecto, XMI inválidos, se evita por diseño en lugar de depender de que el modelo de lenguaje acierte.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generador sigue las reglas del Apéndice D de la ERS: referencias por posición, relaciones en ambos sentidos y valores por defecto omitidos. Nada está escrito a mano: todo se deriva del archivo .ecore, con sus 52 clases y 22 enumeraciones. Si el metamodelo cambia, se reemplaza el archivo y el sistema se adapta.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validador no depende del modelo de lenguaje. El primer nivel revisa que el modelo cumpla el metamodelo. El segundo revisa que el monitoreo tenga sentido: que los flujos lleguen sin cortes desde el sensor hasta la tabla. Para no engañarnos, validamos el archivo final: lo escribimos, lo volvemos a leer y validamos lo leído.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pantalla real. Igual que en el boceto de la ERS: chat a la izquierda, workflow al centro y visor a la derecha, sin cambiar de página. Arriba están el nombre del caso, la versión del modelo, si es válido y el botón de descarga en .MonitorIoT o .xmi.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pasos 2, 3 y 4 son las tres actividades del proceso de diseño de Monitor-IoT del artículo; los otros son propios del asistente. La interfaz recibe los eventos del servidor en tiempo real, así el usuario siempre sabe qué está haciendo el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captura está resaltado el flujo de frecuencia cardíaca: del smartwatch, por el broker MQTT, hasta la tabla Health. El visor también permite acercar, alejar y seleccionar elementos. Las vistas de sistema, redes y categorías quedan para el avance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evidencia más fuerte: el XMI que generamos lo carga y valida EMF, que es la librería con la que funciona Obeo Designer, y no reporta errores. El caso del artículo tiene 99 elementos y pasa nuestra validación sin errores ni advertencias.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Probamos el validador con los tres modelos que ya existían. Encuentra exactamente los problemas que la ERS menciona. Donde EMF también revisa, coincidimos; y además revisamos la coherencia de los flujos, que EMF no cubre. Estos modelos se corregirán y traducirán en el avance 2 para especializar al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resumen de lo entregado frente a la ERS y la WBS. Los componentes de codificación del generador, el validador, la interfaz y el visor están en su mayoría completos. Lo que depende del modelo de lenguaje queda preparado y se completa en el avance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Conectamos lo construido con el plan de riesgos. El riesgo muy alto, R002, se evita con el generador programático y el validador. R007 se mitiga verificando con EMF. Para la dependencia de GLM 4.6 dejamos una capa intermedia. Y todo está en un repositorio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el avance 2 el agente toma protagonismo: especializamos GLM 4.6 y lo conectamos a la tubería que hoy presentamos. En el avance 3 completamos vistas, medimos calidad con casos de prueba, evaluamos con usuarios y publicamos la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con la demostración en la aplicación. Recordamos que el metamodelo y su notación gráfica son de los autores de Monitor-IoT, a quienes citamos como origen.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7D3E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937760"/>
            <a:ext cx="5760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C7D3E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Asistente Monitor-IoT · Avance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7D3E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Asistente Monitor-IoT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7D3E3"/>
                </a:solidFill>
              </a:rPr>
              <a:t>Avance 1: la base técnica funcionando de punta a punta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9377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3E3"/>
                </a:solidFill>
              </a:rPr>
              <a:t>Juan Pedro Pesántez · Joaquín Méndez · Jordan Quizhpi · Anaela Romero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7D3E3"/>
                </a:solidFill>
              </a:rPr>
              <a:t>28 de octubre de 2026</a:t>
            </a:r>
            <a:endParaRPr lang="en-US" sz="1400" dirty="0"/>
          </a:p>
        </p:txBody>
      </p:sp>
      <p:sp>
        <p:nvSpPr>
          <p:cNvPr id="5" name="Marco captura"/>
          <p:cNvSpPr/>
          <p:nvPr/>
        </p:nvSpPr>
        <p:spPr>
          <a:xfrm>
            <a:off x="6821424" y="1700784"/>
            <a:ext cx="4919472" cy="2816352"/>
          </a:xfrm>
          <a:prstGeom prst="rect">
            <a:avLst/>
          </a:prstGeom>
          <a:solidFill>
            <a:srgbClr val="3C5378"/>
          </a:solidFill>
          <a:ln w="12700">
            <a:solidFill>
              <a:srgbClr val="3C5378"/>
            </a:solidFill>
            <a:prstDash val="solid"/>
          </a:ln>
        </p:spPr>
      </p:sp>
      <p:pic>
        <p:nvPicPr>
          <p:cNvPr id="6" name="Captura portada" descr="Captura del Asistente Monitor-IoT con el modelo del caso de ejemp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37360"/>
            <a:ext cx="4846320" cy="2724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7D3E3"/>
                </a:solidFill>
              </a:rPr>
              <a:t>Modelo generado, validado y dibujado en la aplicación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Modelar en Monitor-IoT hoy exige dominar Eclipse</a:t>
            </a:r>
            <a:endParaRPr lang="en-US" sz="3200" dirty="0"/>
          </a:p>
        </p:txBody>
      </p:sp>
      <p:sp>
        <p:nvSpPr>
          <p:cNvPr id="3" name="Hoy"/>
          <p:cNvSpPr/>
          <p:nvPr/>
        </p:nvSpPr>
        <p:spPr>
          <a:xfrm>
            <a:off x="548640" y="1371600"/>
            <a:ext cx="512064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Hoy, con Obeo Designer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 construye el modelo elemento por elemento</a:t>
            </a:r>
            <a:endParaRPr lang="en-US" sz="18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Hay que conocer Eclipse, Sirius, Ecore y XMI</a:t>
            </a:r>
            <a:endParaRPr lang="en-US" sz="18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Las relaciones y referencias se arman a mano</a:t>
            </a:r>
            <a:endParaRPr lang="en-US" sz="18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Los errores se descubren tarde, al validar o abrir</a:t>
            </a:r>
            <a:endParaRPr lang="en-US" sz="1800" dirty="0"/>
          </a:p>
        </p:txBody>
      </p:sp>
      <p:sp>
        <p:nvSpPr>
          <p:cNvPr id="6" name="Flecha"/>
          <p:cNvSpPr/>
          <p:nvPr/>
        </p:nvSpPr>
        <p:spPr>
          <a:xfrm>
            <a:off x="5806440" y="3200400"/>
            <a:ext cx="54864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Con el asistente"/>
          <p:cNvSpPr/>
          <p:nvPr/>
        </p:nvSpPr>
        <p:spPr>
          <a:xfrm>
            <a:off x="6492240" y="1371600"/>
            <a:ext cx="512064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1228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Con el Asistente Monitor-IoT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2860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 describe el caso en lenguaje natural o con documentos</a:t>
            </a:r>
            <a:endParaRPr lang="en-US" sz="18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agente sigue el proceso de diseño de Monitor-IoT</a:t>
            </a:r>
            <a:endParaRPr lang="en-US" sz="18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XMI se valida y es compatible con Obeo Designer</a:t>
            </a:r>
            <a:endParaRPr lang="en-US" sz="1800" dirty="0"/>
          </a:p>
          <a:p>
            <a:pPr marL="177800" indent="-1778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modelo se ve dibujado y se descarga en minutos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Objetivos OBJ-01 a OBJ-04 de la ERS: menos esfuerzo, modelos siempre válidos, trabajo del agente visible y modelo gráfico.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proyecto se entrega en tres avances</a:t>
            </a:r>
            <a:endParaRPr lang="en-US" sz="3200" dirty="0"/>
          </a:p>
        </p:txBody>
      </p:sp>
      <p:sp>
        <p:nvSpPr>
          <p:cNvPr id="3" name="Avance 1 · hoy"/>
          <p:cNvSpPr/>
          <p:nvPr/>
        </p:nvSpPr>
        <p:spPr>
          <a:xfrm>
            <a:off x="54864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Avance 1 · hoy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Base técnica: metamodelo, generador y validador XMI, interfaz web con chat, workflow y visor gráfico.</a:t>
            </a:r>
            <a:endParaRPr lang="en-US" sz="1600" dirty="0"/>
          </a:p>
        </p:txBody>
      </p:sp>
      <p:sp>
        <p:nvSpPr>
          <p:cNvPr id="8" name="Avance 2"/>
          <p:cNvSpPr/>
          <p:nvPr/>
        </p:nvSpPr>
        <p:spPr>
          <a:xfrm>
            <a:off x="434340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Avance 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Agente con GLM 4.6: genera el modelo desde el caso del usuario, lee PDF, DOCX y TXT, pregunta y ajusta por chat.</a:t>
            </a:r>
            <a:endParaRPr lang="en-US" sz="1600" dirty="0"/>
          </a:p>
        </p:txBody>
      </p:sp>
      <p:sp>
        <p:nvSpPr>
          <p:cNvPr id="13" name="Avance 3"/>
          <p:cNvSpPr/>
          <p:nvPr/>
        </p:nvSpPr>
        <p:spPr>
          <a:xfrm>
            <a:off x="813816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651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Avance 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004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Vistas de sistema, redes y categorías; casos de prueba, evaluación TAM con usuarios y publicación con HTTPS.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avance se apoya en el anterior: en el avance 2 el agente entregará sus datos a la misma tubería que hoy genera, valida y dibuja el XMI.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Cuatro componentes separados e intercambiables</a:t>
            </a:r>
            <a:endParaRPr lang="en-US" sz="3200" dirty="0"/>
          </a:p>
        </p:txBody>
      </p:sp>
      <p:sp>
        <p:nvSpPr>
          <p:cNvPr id="3" name="Interfaz web"/>
          <p:cNvSpPr/>
          <p:nvPr/>
        </p:nvSpPr>
        <p:spPr>
          <a:xfrm>
            <a:off x="548640" y="210312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Interfaz web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7004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React + Cytoscape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Chat, workflow y visor en una sola pantalla</a:t>
            </a:r>
            <a:endParaRPr lang="en-US" sz="1300" dirty="0"/>
          </a:p>
        </p:txBody>
      </p:sp>
      <p:sp>
        <p:nvSpPr>
          <p:cNvPr id="6" name="API web"/>
          <p:cNvSpPr/>
          <p:nvPr/>
        </p:nvSpPr>
        <p:spPr>
          <a:xfrm>
            <a:off x="3794760" y="2103120"/>
            <a:ext cx="2651760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931920" y="2267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 web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67004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FastAPI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Sesiones, versiones y eventos en tiempo real</a:t>
            </a:r>
            <a:endParaRPr lang="en-US" sz="1300" dirty="0"/>
          </a:p>
        </p:txBody>
      </p:sp>
      <p:sp>
        <p:nvSpPr>
          <p:cNvPr id="9" name="Agente"/>
          <p:cNvSpPr/>
          <p:nvPr/>
        </p:nvSpPr>
        <p:spPr>
          <a:xfrm>
            <a:off x="7040880" y="1325880"/>
            <a:ext cx="2194560" cy="1600200"/>
          </a:xfrm>
          <a:prstGeom prst="roundRect">
            <a:avLst>
              <a:gd name="adj" fmla="val 6857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178040" y="1490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Agente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89280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Workflow de 6 pasos y capa hacia el LLM</a:t>
            </a:r>
            <a:endParaRPr lang="en-US" sz="1300" dirty="0"/>
          </a:p>
        </p:txBody>
      </p:sp>
      <p:sp>
        <p:nvSpPr>
          <p:cNvPr id="12" name="Generador"/>
          <p:cNvSpPr/>
          <p:nvPr/>
        </p:nvSpPr>
        <p:spPr>
          <a:xfrm>
            <a:off x="9372600" y="1325880"/>
            <a:ext cx="228600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509760" y="1490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Generador XMI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18928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JSON → modelo → XMI</a:t>
            </a:r>
            <a:endParaRPr lang="en-US" sz="1300" dirty="0"/>
          </a:p>
        </p:txBody>
      </p:sp>
      <p:sp>
        <p:nvSpPr>
          <p:cNvPr id="15" name="Validador"/>
          <p:cNvSpPr/>
          <p:nvPr/>
        </p:nvSpPr>
        <p:spPr>
          <a:xfrm>
            <a:off x="7040880" y="3108960"/>
            <a:ext cx="2194560" cy="1600200"/>
          </a:xfrm>
          <a:prstGeom prst="roundRect">
            <a:avLst>
              <a:gd name="adj" fmla="val 6857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7804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Validador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67588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Metamodelo y coherencia del monitoreo</a:t>
            </a:r>
            <a:endParaRPr lang="en-US" sz="1300" dirty="0"/>
          </a:p>
        </p:txBody>
      </p:sp>
      <p:sp>
        <p:nvSpPr>
          <p:cNvPr id="18" name="Base de conocimiento"/>
          <p:cNvSpPr/>
          <p:nvPr/>
        </p:nvSpPr>
        <p:spPr>
          <a:xfrm>
            <a:off x="9372600" y="3108960"/>
            <a:ext cx="2286000" cy="1600200"/>
          </a:xfrm>
          <a:prstGeom prst="roundRect">
            <a:avLst>
              <a:gd name="adj" fmla="val 6857"/>
            </a:avLst>
          </a:prstGeom>
          <a:solidFill>
            <a:schemeClr val="accent5"/>
          </a:solidFill>
          <a:ln w="15875">
            <a:solidFill>
              <a:schemeClr val="accent5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09760" y="3273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Base de conocimiento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36758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tesismetamodelo.ecore y casos de ejemplo</a:t>
            </a:r>
            <a:endParaRPr lang="en-US" sz="1300" dirty="0"/>
          </a:p>
        </p:txBody>
      </p:sp>
      <p:sp>
        <p:nvSpPr>
          <p:cNvPr id="21" name="GLM"/>
          <p:cNvSpPr/>
          <p:nvPr/>
        </p:nvSpPr>
        <p:spPr>
          <a:xfrm>
            <a:off x="7040880" y="4983480"/>
            <a:ext cx="219456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132320" y="50566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GLM 4.6 (Z.ai)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 conecta en el avance 2</a:t>
            </a:r>
            <a:endParaRPr lang="en-US" sz="1200" dirty="0"/>
          </a:p>
        </p:txBody>
      </p:sp>
      <p:sp>
        <p:nvSpPr>
          <p:cNvPr id="23" name="Conector"/>
          <p:cNvSpPr/>
          <p:nvPr/>
        </p:nvSpPr>
        <p:spPr>
          <a:xfrm>
            <a:off x="3246120" y="3017520"/>
            <a:ext cx="502920" cy="0"/>
          </a:xfrm>
          <a:prstGeom prst="line">
            <a:avLst/>
          </a:prstGeom>
          <a:noFill/>
          <a:ln w="25400">
            <a:solidFill>
              <a:srgbClr val="8592A3"/>
            </a:solidFill>
            <a:prstDash val="solid"/>
            <a:headEnd type="triangle"/>
            <a:tailEnd type="triangle"/>
          </a:ln>
        </p:spPr>
      </p:sp>
      <p:sp>
        <p:nvSpPr>
          <p:cNvPr id="24" name="Conector"/>
          <p:cNvSpPr/>
          <p:nvPr/>
        </p:nvSpPr>
        <p:spPr>
          <a:xfrm flipV="1">
            <a:off x="6492240" y="2103120"/>
            <a:ext cx="502920" cy="0"/>
          </a:xfrm>
          <a:prstGeom prst="line">
            <a:avLst/>
          </a:prstGeom>
          <a:noFill/>
          <a:ln w="25400">
            <a:solidFill>
              <a:srgbClr val="8592A3"/>
            </a:solidFill>
            <a:prstDash val="solid"/>
            <a:tailEnd type="triangle"/>
          </a:ln>
        </p:spPr>
      </p:sp>
      <p:sp>
        <p:nvSpPr>
          <p:cNvPr id="25" name="Conector"/>
          <p:cNvSpPr/>
          <p:nvPr/>
        </p:nvSpPr>
        <p:spPr>
          <a:xfrm>
            <a:off x="6492240" y="3017520"/>
            <a:ext cx="502920" cy="868680"/>
          </a:xfrm>
          <a:prstGeom prst="line">
            <a:avLst/>
          </a:prstGeom>
          <a:noFill/>
          <a:ln w="25400">
            <a:solidFill>
              <a:srgbClr val="8592A3"/>
            </a:solidFill>
            <a:prstDash val="solid"/>
            <a:tailEnd type="triangle"/>
          </a:ln>
        </p:spPr>
      </p:sp>
      <p:sp>
        <p:nvSpPr>
          <p:cNvPr id="26" name="Conector"/>
          <p:cNvSpPr/>
          <p:nvPr/>
        </p:nvSpPr>
        <p:spPr>
          <a:xfrm>
            <a:off x="8138160" y="4736592"/>
            <a:ext cx="0" cy="2286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4389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RNF-18: interfaz, agente, validador y visor son piezas independientes. El agente no depende del proveedor del modelo de lenguaje (riesgos R001 y R011).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Decisión clave: el agente no escribe el XMI directamente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Respuesta planificada al riesgo R002 (0,63, muy alto): un modelo de lenguaje no calcula bien las referencias por posición ni las relaciones de doble sentido.</a:t>
            </a:r>
            <a:endParaRPr lang="en-US" sz="1500" dirty="0"/>
          </a:p>
        </p:txBody>
      </p:sp>
      <p:sp>
        <p:nvSpPr>
          <p:cNvPr id="4" name="JSON"/>
          <p:cNvSpPr/>
          <p:nvPr/>
        </p:nvSpPr>
        <p:spPr>
          <a:xfrm>
            <a:off x="548640" y="1965960"/>
            <a:ext cx="3657600" cy="39319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 que entrega el agente (JSON)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{"eClass": "Sensor",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"key": "tempSensor",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"name": "TemperatureSensor"}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{"eClass": "LinkAPIToIoTDevice",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"supports": "flowEnv",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"linksIoTDevice": "tempSensor",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"linksAPI": "apiTemp"}</a:t>
            </a:r>
            <a:endParaRPr lang="en-US" sz="1100" dirty="0"/>
          </a:p>
        </p:txBody>
      </p:sp>
      <p:sp>
        <p:nvSpPr>
          <p:cNvPr id="7" name="XMI"/>
          <p:cNvSpPr/>
          <p:nvPr/>
        </p:nvSpPr>
        <p:spPr>
          <a:xfrm>
            <a:off x="7955280" y="1965960"/>
            <a:ext cx="3657600" cy="39319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 que escribe el programa (XMI)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&lt;containsLink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xsi:type="MonitorIoT: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LinkAPIToIoTDevice"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supports="//@containsDataFlow.0"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linksIoTDevice="//@containsEntity.0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/@containsSubPhysicalEntity.1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/@containsComputingNode.0"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linksAPI="//@containsEntity.0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/@containsComputingNode.1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/@containsResource.0"/&gt;</a:t>
            </a:r>
            <a:endParaRPr lang="en-US" sz="1100" dirty="0"/>
          </a:p>
        </p:txBody>
      </p:sp>
      <p:sp>
        <p:nvSpPr>
          <p:cNvPr id="10" name="Generador"/>
          <p:cNvSpPr/>
          <p:nvPr/>
        </p:nvSpPr>
        <p:spPr>
          <a:xfrm>
            <a:off x="4526280" y="1965960"/>
            <a:ext cx="3108960" cy="3931920"/>
          </a:xfrm>
          <a:prstGeom prst="roundRect">
            <a:avLst>
              <a:gd name="adj" fmla="val 3529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5488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Generador XMI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743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Resuelve cada clave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Calcula la referencia por posición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420624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4206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Completa la relación opuesta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493776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4937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Asigna los identificadores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XMI respeta el formato que espera Obeo Designer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Referencias por posición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556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elemento se identifica por su ubicación, por ejemplo //@containsEntity.0/@containsComputingNode.1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871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Relaciones en ambos sentidos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87121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 el sensor apunta al enlace, el enlace apunta al sensor, como exige cada eOpposite del metamodelo.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027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Valores por defecto omitidos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8678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Igual que EMF; el visor los repone desde el metamodelo al leer el archivo (RF-18).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640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64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183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Nombres exactos del metamodelo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0235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respetan incluso incluyes, hasLinkServiceToDatable y linkService (RNF-07).</a:t>
            </a:r>
            <a:endParaRPr lang="en-US" sz="1400" dirty="0"/>
          </a:p>
        </p:txBody>
      </p:sp>
      <p:sp>
        <p:nvSpPr>
          <p:cNvPr id="19" name="Guiado por el ecore"/>
          <p:cNvSpPr/>
          <p:nvPr/>
        </p:nvSpPr>
        <p:spPr>
          <a:xfrm>
            <a:off x="7498080" y="1371600"/>
            <a:ext cx="4114800" cy="438912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81812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52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3E3"/>
                </a:solidFill>
              </a:rPr>
              <a:t>clases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22</a:t>
            </a:r>
            <a:endParaRPr lang="en-US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3E3"/>
                </a:solidFill>
              </a:rPr>
              <a:t>enumeraciones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32004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Generador, lector y validador se leen del archivo tesismetamodelo.ecore al arrancar. Si el metamodelo cambia, basta con reemplazar ese archivo (RNF-17).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validador independiente revisa el modelo en dos niveles</a:t>
            </a:r>
            <a:endParaRPr lang="en-US" sz="3200" dirty="0"/>
          </a:p>
        </p:txBody>
      </p:sp>
      <p:sp>
        <p:nvSpPr>
          <p:cNvPr id="3" name="Nivel 1"/>
          <p:cNvSpPr/>
          <p:nvPr/>
        </p:nvSpPr>
        <p:spPr>
          <a:xfrm>
            <a:off x="548640" y="137160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Conformidad con el metamodelo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RF-11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Clases y datos que existen en el .ecore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Valores válidos de las listas y tipos correctos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Referencias a elementos existentes y del tipo esperado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Relaciones de doble sentido completas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Datos obligatorios, como la plantilla de cada propiedad</a:t>
            </a:r>
            <a:endParaRPr lang="en-US" sz="1500" dirty="0"/>
          </a:p>
        </p:txBody>
      </p:sp>
      <p:sp>
        <p:nvSpPr>
          <p:cNvPr id="9" name="Nivel 2"/>
          <p:cNvSpPr/>
          <p:nvPr/>
        </p:nvSpPr>
        <p:spPr>
          <a:xfrm>
            <a:off x="6217920" y="1371600"/>
            <a:ext cx="5394960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Coherencia del monitoreo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RF-12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51460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enlace conecta sus dos elementos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flujo tiene una cadena ordenada, sin cortes ni ciclos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Enlaces consecutivos comparten un elemento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flujo tiene reglas de mapeo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propiedad monitoreada llega a una columna</a:t>
            </a:r>
            <a:endParaRPr lang="en-US" sz="1500" dirty="0"/>
          </a:p>
        </p:txBody>
      </p:sp>
      <p:sp>
        <p:nvSpPr>
          <p:cNvPr id="15" name="Nota validación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21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valida exactamente lo que se entrega: el XMI se escribe, se vuelve a leer y se valida lo leído. Los mensajes dicen qué pasó y qué hacer, en español sencillo (RNF-09, RNF-12, RI-04).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interfaz sigue el boceto de la ERS</a:t>
            </a:r>
            <a:endParaRPr lang="en-US" sz="3200" dirty="0"/>
          </a:p>
        </p:txBody>
      </p:sp>
      <p:sp>
        <p:nvSpPr>
          <p:cNvPr id="3" name="Pantalla principal con chat, workflow y visor marco"/>
          <p:cNvSpPr/>
          <p:nvPr/>
        </p:nvSpPr>
        <p:spPr>
          <a:xfrm>
            <a:off x="512064" y="1197864"/>
            <a:ext cx="8577072" cy="4855464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pic>
        <p:nvPicPr>
          <p:cNvPr id="4" name="Pantalla principal con chat, workflow y visor" descr="Pantalla principal con chat, workflow y vis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8503920" cy="47823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4183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418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12680" y="1261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12680" y="1600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Conversación, caso de ejemplo y apertura de XMI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41832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012680" y="24505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Workflow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012680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Los 6 pasos del agente con su estado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41832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18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012680" y="36393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Visor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12680" y="3977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Arquitectura, validación y XMI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418320" y="4846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48280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Barra superior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012680" y="5166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Caso, versión, validez y descarga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workflow muestra el trabajo del agente en tiempo real</a:t>
            </a:r>
            <a:endParaRPr lang="en-US" sz="3200" dirty="0"/>
          </a:p>
        </p:txBody>
      </p:sp>
      <p:sp>
        <p:nvSpPr>
          <p:cNvPr id="3" name="Chat y workflow mientras el agente modela los flujos marco"/>
          <p:cNvSpPr/>
          <p:nvPr/>
        </p:nvSpPr>
        <p:spPr>
          <a:xfrm>
            <a:off x="512064" y="1197864"/>
            <a:ext cx="4599432" cy="5010912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pic>
        <p:nvPicPr>
          <p:cNvPr id="4" name="Chat y workflow mientras el agente modela los flujos" descr="Chat y workflow mientras el agente modela los fluj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26280" cy="4937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325880"/>
            <a:ext cx="411480" cy="411480"/>
          </a:xfrm>
          <a:prstGeom prst="ellipse">
            <a:avLst/>
          </a:prstGeom>
          <a:solidFill>
            <a:srgbClr val="8592A3"/>
          </a:solidFill>
          <a:ln w="12700">
            <a:solidFill>
              <a:srgbClr val="8592A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Entender el caso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0" y="18928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8928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Identificar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966960" y="1892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Actividad 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45973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Modelar entidades y propiedades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966960" y="2459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Actividad 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0" y="302666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30266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Modelar flujos de datos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966960" y="302666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Actividad 3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669280" y="3593592"/>
            <a:ext cx="411480" cy="411480"/>
          </a:xfrm>
          <a:prstGeom prst="ellipse">
            <a:avLst/>
          </a:prstGeom>
          <a:solidFill>
            <a:srgbClr val="8592A3"/>
          </a:solidFill>
          <a:ln w="12700">
            <a:solidFill>
              <a:srgbClr val="8592A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3593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Validar y corregir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669280" y="4160520"/>
            <a:ext cx="411480" cy="411480"/>
          </a:xfrm>
          <a:prstGeom prst="ellipse">
            <a:avLst/>
          </a:prstGeom>
          <a:solidFill>
            <a:srgbClr val="8592A3"/>
          </a:solidFill>
          <a:ln w="12700">
            <a:solidFill>
              <a:srgbClr val="8592A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Entregar el resultado</a:t>
            </a:r>
            <a:endParaRPr lang="en-US" sz="1600" dirty="0"/>
          </a:p>
        </p:txBody>
      </p:sp>
      <p:sp>
        <p:nvSpPr>
          <p:cNvPr id="26" name="Estados"/>
          <p:cNvSpPr/>
          <p:nvPr/>
        </p:nvSpPr>
        <p:spPr>
          <a:xfrm>
            <a:off x="5669280" y="4892040"/>
            <a:ext cx="59436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97880" y="498348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paso muestra su estado con texto e ícono (pendiente, en curso, completado, con error) y un detalle que se puede abrir (RI-02, RF-16, RF-17).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visor dibuja el modelo y resalta cada flujo de datos</a:t>
            </a:r>
            <a:endParaRPr lang="en-US" sz="3200" dirty="0"/>
          </a:p>
        </p:txBody>
      </p:sp>
      <p:sp>
        <p:nvSpPr>
          <p:cNvPr id="3" name="Visor con el flujo de frecuencia cardíaca resaltado marco"/>
          <p:cNvSpPr/>
          <p:nvPr/>
        </p:nvSpPr>
        <p:spPr>
          <a:xfrm>
            <a:off x="512064" y="1197864"/>
            <a:ext cx="4965192" cy="4956048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pic>
        <p:nvPicPr>
          <p:cNvPr id="4" name="Visor con el flujo de frecuencia cardíaca resaltado" descr="Visor con el flujo de frecuencia cardíaca resalt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892040" cy="48828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3075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Cajas anidadas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6733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Entidad física, nodo, recursos, tablas y columnas, con los colores de la notación de Monitor-IoT (RF-19, RI-03).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0" y="2514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4963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Resaltado de flujos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8620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 elegir un flujo se ilumina su camino completo, del sensor a la tabla (RF-22).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97880" y="3703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978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6850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Datos de cada elemento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40507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 un clic: tipo, atributos, propiedades y relaciones (RF-21).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897880" y="4892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978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8737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Abre XMI existentes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52395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Lee cualquier modelo Monitor-IoT y repone los valores por defecto (RF-18, RF-23).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XMI generado se abre sin errores con EMF</a:t>
            </a:r>
            <a:endParaRPr lang="en-US" sz="3200" dirty="0"/>
          </a:p>
        </p:txBody>
      </p:sp>
      <p:sp>
        <p:nvSpPr>
          <p:cNvPr id="3" name="Dato 1"/>
          <p:cNvSpPr/>
          <p:nvPr/>
        </p:nvSpPr>
        <p:spPr>
          <a:xfrm>
            <a:off x="54864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99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elementos en el caso del artículo, con 3 flujos y 13 enlaces</a:t>
            </a:r>
            <a:endParaRPr lang="en-US" sz="1500" dirty="0"/>
          </a:p>
        </p:txBody>
      </p:sp>
      <p:sp>
        <p:nvSpPr>
          <p:cNvPr id="6" name="Dato 2"/>
          <p:cNvSpPr/>
          <p:nvPr/>
        </p:nvSpPr>
        <p:spPr>
          <a:xfrm>
            <a:off x="338328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760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0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errores y 0 advertencias en nuestro validador</a:t>
            </a:r>
            <a:endParaRPr lang="en-US" sz="1500" dirty="0"/>
          </a:p>
        </p:txBody>
      </p:sp>
      <p:sp>
        <p:nvSpPr>
          <p:cNvPr id="9" name="Dato 3"/>
          <p:cNvSpPr/>
          <p:nvPr/>
        </p:nvSpPr>
        <p:spPr>
          <a:xfrm>
            <a:off x="621792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OK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 cargarlo y validarlo con EMF, la librería de Obeo Designer</a:t>
            </a:r>
            <a:endParaRPr lang="en-US" sz="1500" dirty="0"/>
          </a:p>
        </p:txBody>
      </p:sp>
      <p:sp>
        <p:nvSpPr>
          <p:cNvPr id="12" name="Dato 4"/>
          <p:cNvSpPr/>
          <p:nvPr/>
        </p:nvSpPr>
        <p:spPr>
          <a:xfrm>
            <a:off x="905256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326880" y="1737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7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9260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pruebas automáticas aprobadas en el núcleo</a:t>
            </a:r>
            <a:endParaRPr lang="en-US" sz="1500" dirty="0"/>
          </a:p>
        </p:txBody>
      </p:sp>
      <p:sp>
        <p:nvSpPr>
          <p:cNvPr id="15" name="Nota EMF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9834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Verificado con tools/emf-check, que carga el XMI con los jars de EMF de la instalación de Obeo Designer del equipo y ejecuta su validador. Atiende el riesgo R007 desde el primer avance.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También detecta los errores de los modelos existentes</a:t>
            </a:r>
            <a:endParaRPr lang="en-US" sz="3200" dirty="0"/>
          </a:p>
        </p:txBody>
      </p:sp>
      <p:sp>
        <p:nvSpPr>
          <p:cNvPr id="3" name="Pestaña de validación con los errores de ModeloP marco"/>
          <p:cNvSpPr/>
          <p:nvPr/>
        </p:nvSpPr>
        <p:spPr>
          <a:xfrm>
            <a:off x="512064" y="1197864"/>
            <a:ext cx="4965192" cy="4901184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pic>
        <p:nvPicPr>
          <p:cNvPr id="4" name="Pestaña de validación con los errores de ModeloP" descr="Pestaña de validación con los errores de Model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892040" cy="4828032"/>
          </a:xfrm>
          <a:prstGeom prst="rect">
            <a:avLst/>
          </a:prstGeom>
        </p:spPr>
      </p:pic>
      <p:graphicFrame>
        <p:nvGraphicFramePr>
          <p:cNvPr id="13" name="Tabla mode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Modelo existente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Advertencias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EjercicioExperimental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ModeloArquitecturaIoT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852160" y="3154680"/>
            <a:ext cx="5760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Encuentra lo que anticipaba la ERS: enlaces incompletos y propiedades sin plantilla.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 ModeloArquitecturaIoT coincide con EMF en las 6 propiedades sin plantilla y además detecta cadenas de enlaces cortadas y relaciones incompletas.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 un modelo no es válido, el sistema avisa antes de descargarlo (RF-25).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Requisitos cubiertos en el Avance 1</a:t>
            </a:r>
            <a:endParaRPr lang="en-US" sz="3200" dirty="0"/>
          </a:p>
        </p:txBody>
      </p:sp>
      <p:graphicFrame>
        <p:nvGraphicFramePr>
          <p:cNvPr id="14" name="Tabla requisi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926080"/>
                <a:gridCol w="44805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Componente (WBS)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Requisitos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Generador XMI (5.2)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RF-10, RNF-07, RNF-08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Validador independiente (5.2)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RF-11, RF-12, RNF-09, RNF-12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Chat y workflow (6.2)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Completo, sin PDF/DOCX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RI-01, RI-02, RI-04, RF-01, RF-16, RF-17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Visor gráfico (6.3)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Vista Arquitectura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RF-18, RF-19, RF-21, RF-22, RF-23, RI-03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Descarga y versiones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Completo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RF-24, RF-25, RF-26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Capa hacia GLM 4.6 (4.2)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Lista, en modo demo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RNF-06, RNF-13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Caso del artículo en inglés (3.2)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caso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RF-28 (parcial), RNF-11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Riesgos atendidos desde el primer avance</a:t>
            </a:r>
            <a:endParaRPr lang="en-US" sz="3200" dirty="0"/>
          </a:p>
        </p:txBody>
      </p:sp>
      <p:sp>
        <p:nvSpPr>
          <p:cNvPr id="3" name="R002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4" name="Nivel R002"/>
          <p:cNvSpPr/>
          <p:nvPr/>
        </p:nvSpPr>
        <p:spPr>
          <a:xfrm>
            <a:off x="822960" y="1645920"/>
            <a:ext cx="214884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R002 · Muy alto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XMI inválidos o incoherentes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El programa arma el XMI y un validador independiente lo revisa siempre.</a:t>
            </a:r>
            <a:endParaRPr lang="en-US" sz="1700" dirty="0"/>
          </a:p>
        </p:txBody>
      </p:sp>
      <p:sp>
        <p:nvSpPr>
          <p:cNvPr id="8" name="R007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9" name="Nivel R007"/>
          <p:cNvSpPr/>
          <p:nvPr/>
        </p:nvSpPr>
        <p:spPr>
          <a:xfrm>
            <a:off x="6446520" y="1645920"/>
            <a:ext cx="214884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R007 · Moderado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XMI no abre en Obeo Designer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402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Cada XMI se puede verificar con EMF; el del caso de ejemplo pasa sin errores.</a:t>
            </a:r>
            <a:endParaRPr lang="en-US" sz="1700" dirty="0"/>
          </a:p>
        </p:txBody>
      </p:sp>
      <p:sp>
        <p:nvSpPr>
          <p:cNvPr id="13" name="R001 · R011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4" name="Nivel R001 · R011"/>
          <p:cNvSpPr/>
          <p:nvPr/>
        </p:nvSpPr>
        <p:spPr>
          <a:xfrm>
            <a:off x="822960" y="4023360"/>
            <a:ext cx="214884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23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R001 · R011 · Alto · Bajo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Disponibilidad y costo de GLM 4.6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Capa intermedia: cambiar de modelo o proveedor es configuración. Modo demo sin clave.</a:t>
            </a:r>
            <a:endParaRPr lang="en-US" sz="1700" dirty="0"/>
          </a:p>
        </p:txBody>
      </p:sp>
      <p:sp>
        <p:nvSpPr>
          <p:cNvPr id="18" name="R010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19" name="Nivel R010"/>
          <p:cNvSpPr/>
          <p:nvPr/>
        </p:nvSpPr>
        <p:spPr>
          <a:xfrm>
            <a:off x="6446520" y="4023360"/>
            <a:ext cx="214884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023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R010 · Muy bajo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4023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Pérdida de avances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Repositorio Git con el código, las pruebas y la documentación.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viene en los avances 2 y 3</a:t>
            </a:r>
            <a:endParaRPr lang="en-US" sz="3200" dirty="0"/>
          </a:p>
        </p:txBody>
      </p:sp>
      <p:sp>
        <p:nvSpPr>
          <p:cNvPr id="3" name="Avance 2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Agente con GLM 4.6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Especialización con el metamodelo, el proceso de diseño y casos de ejemplo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 agente genera la especificación desde el caso del usuario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Preguntas de aclaración y supuestos visibles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Corrección automática con los errores del validador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Ajustes por chat con nuevas versiones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Carga de documentos PDF, DOCX y TXT</a:t>
            </a:r>
            <a:endParaRPr lang="en-US" sz="1700" dirty="0"/>
          </a:p>
        </p:txBody>
      </p:sp>
      <p:sp>
        <p:nvSpPr>
          <p:cNvPr id="8" name="Avance 3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C2B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Pulido, pruebas y despliegue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Vistas de sistema, redes y categorías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Casos de prueba y medición del porcentaje de XMI válidos (meta: 90 %)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Prueba del visor con modelos de 200 elementos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Evaluación con usuarios (modelo TAM)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Publicación con HTTPS y manuales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Demostración en vivo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28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Cargar el caso de ejemplo y seguir el workflow paso a paso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06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Explorar el visor: resaltar un flujo y ver los datos de un elemento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3832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Revisar las pestañas de validación y XMI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160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Descargar el modelo como .MonitorIoT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937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Abrir ModeloP.MonitorIoT y ver cómo se informan sus errores</a:t>
            </a:r>
            <a:endParaRPr lang="en-US" sz="2000" dirty="0"/>
          </a:p>
        </p:txBody>
      </p:sp>
      <p:sp>
        <p:nvSpPr>
          <p:cNvPr id="18" name="Text 0"/>
          <p:cNvSpPr/>
          <p:nvPr>
            <p:ph idx="101" type="body" hasCustomPrompt="1"/>
          </p:nvPr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rgbClr val="C7D3E3"/>
                </a:solidFill>
              </a:rPr>
              <a:t>Metamodelo y notación gráfica: L. Erazo-Garzón, P. Cedillo, G. Rossi y J. Moyano, IEEE Access, vol. 10, 2022.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itor-IoT">
  <a:themeElements>
    <a:clrScheme name="Monitor-IoT">
      <a:dk1>
        <a:srgbClr val="1C2B45"/>
      </a:dk1>
      <a:lt1>
        <a:srgbClr val="FFFFFF"/>
      </a:lt1>
      <a:dk2>
        <a:srgbClr val="26395A"/>
      </a:dk2>
      <a:lt2>
        <a:srgbClr val="EEF2F6"/>
      </a:lt2>
      <a:accent1>
        <a:srgbClr val="2F6FB3"/>
      </a:accent1>
      <a:accent2>
        <a:srgbClr val="2F7A4A"/>
      </a:accent2>
      <a:accent3>
        <a:srgbClr val="A8892A"/>
      </a:accent3>
      <a:accent4>
        <a:srgbClr val="B42318"/>
      </a:accent4>
      <a:accent5>
        <a:srgbClr val="6B4FA0"/>
      </a:accent5>
      <a:accent6>
        <a:srgbClr val="C2410C"/>
      </a:accent6>
      <a:hlink>
        <a:srgbClr val="2F6FB3"/>
      </a:hlink>
      <a:folHlink>
        <a:srgbClr val="6B4FA0"/>
      </a:folHlink>
    </a:clrScheme>
    <a:fontScheme name="Monitor-I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Monitor-IoT — Avance 1</dc:title>
  <dc:subject>PptxGenJS Presentation</dc:subject>
  <dc:creator>Juan Pedro Pesántez, Joaquín Méndez, Jordan Quizhpi y Anaela Romero</dc:creator>
  <cp:lastModifiedBy>Juan Pedro Pesántez, Joaquín Méndez, Jordan Quizhpi y Anaela Romero</cp:lastModifiedBy>
  <cp:revision>1</cp:revision>
  <dcterms:created xsi:type="dcterms:W3CDTF">2026-10-27T06:45:17Z</dcterms:created>
  <dcterms:modified xsi:type="dcterms:W3CDTF">2026-10-27T06:45:17Z</dcterms:modified>
</cp:coreProperties>
</file>